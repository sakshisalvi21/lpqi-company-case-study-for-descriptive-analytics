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8" r:id="rId8"/>
    <p:sldId id="269" r:id="rId9"/>
    <p:sldId id="270" r:id="rId10"/>
    <p:sldId id="271" r:id="rId11"/>
    <p:sldId id="272" r:id="rId12"/>
    <p:sldId id="273" r:id="rId13"/>
    <p:sldId id="266" r:id="rId14"/>
    <p:sldId id="267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4"/>
    <p:restoredTop sz="94716"/>
  </p:normalViewPr>
  <p:slideViewPr>
    <p:cSldViewPr snapToGrid="0">
      <p:cViewPr varScale="1">
        <p:scale>
          <a:sx n="117" d="100"/>
          <a:sy n="117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5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4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3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6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1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9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0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7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8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3846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01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6230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29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20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2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965F1-8385-8644-A86C-50770F06D7C9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345547-6BDF-164E-9E30-A763C81BF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4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BCAA-5FCD-A539-D607-E26CC182D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515291"/>
            <a:ext cx="7766936" cy="2535545"/>
          </a:xfrm>
        </p:spPr>
        <p:txBody>
          <a:bodyPr/>
          <a:lstStyle/>
          <a:p>
            <a:r>
              <a:rPr lang="en-CA" dirty="0"/>
              <a:t>Root Cause Analysis of Stranded TBI Parts in Shift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65CC8-6F9C-9207-3BF8-908644220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10743"/>
            <a:ext cx="7766936" cy="1114697"/>
          </a:xfrm>
        </p:spPr>
        <p:txBody>
          <a:bodyPr>
            <a:normAutofit fontScale="77500" lnSpcReduction="20000"/>
          </a:bodyPr>
          <a:lstStyle/>
          <a:p>
            <a:r>
              <a:rPr lang="en-US" sz="1700" dirty="0"/>
              <a:t>Creator Name: Sakshi Sandeep Salvi</a:t>
            </a:r>
          </a:p>
          <a:p>
            <a:r>
              <a:rPr lang="en-US" sz="1700" dirty="0"/>
              <a:t>Student ID: 8989427</a:t>
            </a:r>
          </a:p>
          <a:p>
            <a:r>
              <a:rPr lang="en-CA" sz="1700" dirty="0"/>
              <a:t>Course: INFO8136 – Descriptive Analysis</a:t>
            </a:r>
          </a:p>
          <a:p>
            <a:r>
              <a:rPr lang="en-CA" sz="1700" dirty="0"/>
              <a:t>Date – 3</a:t>
            </a:r>
            <a:r>
              <a:rPr lang="en-CA" sz="1700" baseline="30000" dirty="0"/>
              <a:t>rd</a:t>
            </a:r>
            <a:r>
              <a:rPr lang="en-CA" sz="1700" dirty="0"/>
              <a:t> August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2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32A9-9E3D-6D79-4CE4-31D155B6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5431"/>
          </a:xfrm>
        </p:spPr>
        <p:txBody>
          <a:bodyPr/>
          <a:lstStyle/>
          <a:p>
            <a:r>
              <a:rPr lang="en-US" dirty="0"/>
              <a:t>Client Need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93101-39AE-F98B-8D21-A6ECDC7EE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5031"/>
            <a:ext cx="8596668" cy="4476331"/>
          </a:xfrm>
        </p:spPr>
        <p:txBody>
          <a:bodyPr>
            <a:normAutofit/>
          </a:bodyPr>
          <a:lstStyle/>
          <a:p>
            <a:r>
              <a:rPr lang="en-CA" b="1" dirty="0"/>
              <a:t>Client Need</a:t>
            </a:r>
          </a:p>
          <a:p>
            <a:pPr marL="685800" lvl="1"/>
            <a:r>
              <a:rPr lang="en-CA" dirty="0"/>
              <a:t>LPQI wants to reduce the loss due to stranded parts.</a:t>
            </a:r>
          </a:p>
          <a:p>
            <a:pPr marL="685800" lvl="1"/>
            <a:r>
              <a:rPr lang="en-CA" dirty="0"/>
              <a:t>Focus is on Inspection Line B, Shift 3, Tuesday to Saturday.</a:t>
            </a:r>
          </a:p>
          <a:p>
            <a:pPr marL="685800" lvl="1"/>
            <a:r>
              <a:rPr lang="en-CA" dirty="0"/>
              <a:t>Frequent backlog and lack of prioritization affect profitability.</a:t>
            </a:r>
          </a:p>
          <a:p>
            <a:r>
              <a:rPr lang="en-CA" b="1" dirty="0"/>
              <a:t>Executive Summary</a:t>
            </a:r>
          </a:p>
          <a:p>
            <a:pPr marL="685800" lvl="1"/>
            <a:r>
              <a:rPr lang="en-CA" dirty="0"/>
              <a:t>Shift 3 is responsible for the highest volume of uninspected high-profit parts.</a:t>
            </a:r>
          </a:p>
          <a:p>
            <a:pPr marL="685800" lvl="1"/>
            <a:r>
              <a:rPr lang="en-CA" dirty="0"/>
              <a:t>Current scheduling doesn’t adapt to real-time capacity.</a:t>
            </a:r>
          </a:p>
          <a:p>
            <a:pPr marL="685800" lvl="1"/>
            <a:r>
              <a:rPr lang="en-CA" dirty="0"/>
              <a:t>Parts are received unevenly, yet no priority queuing is followed.</a:t>
            </a:r>
          </a:p>
          <a:p>
            <a:pPr marL="685800" lvl="1"/>
            <a:r>
              <a:rPr lang="en-CA" dirty="0"/>
              <a:t>Daily inspection capacity remains flat, while intake varies.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00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7F36-CB15-2698-0F41-F90C1C95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5 Why’s and Critical Insights via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A7AF-5154-E9B9-6178-F6BCAE247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412048" cy="3560733"/>
          </a:xfrm>
        </p:spPr>
        <p:txBody>
          <a:bodyPr>
            <a:normAutofit/>
          </a:bodyPr>
          <a:lstStyle/>
          <a:p>
            <a:r>
              <a:rPr lang="en-CA" b="1" dirty="0"/>
              <a:t>Issue:</a:t>
            </a:r>
            <a:r>
              <a:rPr lang="en-CA" dirty="0"/>
              <a:t> 4 Stranded TBI Parts on Sun, Mon Shift 3 - Inspect Line Actuals and Capacity on Sun, Mon Day Shifts, Tues to Sat Night Shift #3s</a:t>
            </a:r>
          </a:p>
          <a:p>
            <a:r>
              <a:rPr lang="en-CA" b="1" dirty="0"/>
              <a:t>Focus: </a:t>
            </a:r>
            <a:r>
              <a:rPr lang="en-CA" dirty="0"/>
              <a:t>Inspection Line B, Shift 3, Days 3-7 (Tuesday – Saturday)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0F55E3-74C2-5DD1-9252-AA0E88B99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449916"/>
              </p:ext>
            </p:extLst>
          </p:nvPr>
        </p:nvGraphicFramePr>
        <p:xfrm>
          <a:off x="4237892" y="779106"/>
          <a:ext cx="5205046" cy="479526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{5C22544A-7EE6-4342-B048-85BDC9FD1C3A}</a:tableStyleId>
              </a:tblPr>
              <a:tblGrid>
                <a:gridCol w="758362">
                  <a:extLst>
                    <a:ext uri="{9D8B030D-6E8A-4147-A177-3AD203B41FA5}">
                      <a16:colId xmlns:a16="http://schemas.microsoft.com/office/drawing/2014/main" val="118027830"/>
                    </a:ext>
                  </a:extLst>
                </a:gridCol>
                <a:gridCol w="1098546">
                  <a:extLst>
                    <a:ext uri="{9D8B030D-6E8A-4147-A177-3AD203B41FA5}">
                      <a16:colId xmlns:a16="http://schemas.microsoft.com/office/drawing/2014/main" val="3531575179"/>
                    </a:ext>
                  </a:extLst>
                </a:gridCol>
                <a:gridCol w="3348138">
                  <a:extLst>
                    <a:ext uri="{9D8B030D-6E8A-4147-A177-3AD203B41FA5}">
                      <a16:colId xmlns:a16="http://schemas.microsoft.com/office/drawing/2014/main" val="2186931513"/>
                    </a:ext>
                  </a:extLst>
                </a:gridCol>
              </a:tblGrid>
              <a:tr h="1089471"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Level 0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Weekly Stranded Parts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Not Inspected Parts $ Profit Value by Product Type by Part by Week (7 days) For Tues to Saturday Shift #3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027269"/>
                  </a:ext>
                </a:extLst>
              </a:tr>
              <a:tr h="1089471"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Level 1</a:t>
                      </a:r>
                      <a:endParaRPr lang="en-CA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Reverse Level 0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Not Inspected Parts Count by Product Type by Part by Week (7 days) For Tues to Saturday Shift #3</a:t>
                      </a:r>
                      <a:endParaRPr lang="en-CA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94026"/>
                  </a:ext>
                </a:extLst>
              </a:tr>
              <a:tr h="872106"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Level 2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Daily Stranded Parts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Not Inspected Parts $ Profit Value by Product Type by Part by Date For Tues to Saturday Shift #3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92484"/>
                  </a:ext>
                </a:extLst>
              </a:tr>
              <a:tr h="872106"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Level 3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Reverse Level 2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Not Inspected Parts Count by Product Type by Part by Date For Tues to Saturday Shift #3s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91683"/>
                  </a:ext>
                </a:extLst>
              </a:tr>
              <a:tr h="872106"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Level 4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Capacity</a:t>
                      </a:r>
                      <a:endParaRPr lang="en-CA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Capacity-utilization summary which compares daily capacity vs received vs stranded parts</a:t>
                      </a:r>
                      <a:endParaRPr lang="en-CA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8785" marR="0" marT="91373" marB="91373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630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52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1CB3-8912-7BC6-CF36-A553F1BCC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/>
              <a:t>Line B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7B1C-2A17-CC6B-EFC3-7CF6238A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9109464" cy="3870933"/>
          </a:xfrm>
        </p:spPr>
        <p:txBody>
          <a:bodyPr>
            <a:normAutofit/>
          </a:bodyPr>
          <a:lstStyle/>
          <a:p>
            <a:r>
              <a:rPr lang="en-US" dirty="0"/>
              <a:t>Filtered according to the given specifications:</a:t>
            </a:r>
          </a:p>
          <a:p>
            <a:pPr lvl="1"/>
            <a:r>
              <a:rPr lang="en-US" dirty="0"/>
              <a:t>Inspection Line B</a:t>
            </a:r>
          </a:p>
          <a:p>
            <a:pPr lvl="1"/>
            <a:r>
              <a:rPr lang="en-US" dirty="0"/>
              <a:t>Days of Week from Tuesday to Saturday</a:t>
            </a:r>
          </a:p>
          <a:p>
            <a:pPr lvl="1"/>
            <a:r>
              <a:rPr lang="en-US" dirty="0"/>
              <a:t>Shifts from 1 to 3 for comparison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53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1CB3-8912-7BC6-CF36-A553F1BCC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5" y="609600"/>
            <a:ext cx="6102123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Line B – Shift 3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7B1C-2A17-CC6B-EFC3-7CF6238A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9109464" cy="3870933"/>
          </a:xfrm>
        </p:spPr>
        <p:txBody>
          <a:bodyPr>
            <a:normAutofit/>
          </a:bodyPr>
          <a:lstStyle/>
          <a:p>
            <a:r>
              <a:rPr lang="en-US" dirty="0"/>
              <a:t>Filtered according to the given specifications:</a:t>
            </a:r>
          </a:p>
          <a:p>
            <a:pPr lvl="1"/>
            <a:r>
              <a:rPr lang="en-US" dirty="0"/>
              <a:t>Inspection Line B</a:t>
            </a:r>
          </a:p>
          <a:p>
            <a:pPr lvl="1"/>
            <a:r>
              <a:rPr lang="en-US" dirty="0"/>
              <a:t>Days of Week from Tuesday to Saturday</a:t>
            </a:r>
          </a:p>
          <a:p>
            <a:pPr lvl="1"/>
            <a:r>
              <a:rPr lang="en-US" dirty="0"/>
              <a:t>Focused on Shift 3 for Capacity Analysis</a:t>
            </a:r>
          </a:p>
        </p:txBody>
      </p:sp>
    </p:spTree>
    <p:extLst>
      <p:ext uri="{BB962C8B-B14F-4D97-AF65-F5344CB8AC3E}">
        <p14:creationId xmlns:p14="http://schemas.microsoft.com/office/powerpoint/2010/main" val="412349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13C6B-E1AD-EBC4-40B2-4171EEA31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136" y="1020871"/>
            <a:ext cx="6960759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5 Why’s Visualizations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69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3117A90-3F52-FF67-48EE-8B3E16D8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397000"/>
            <a:ext cx="7766936" cy="2653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Level 0 - Weekly Stranded Parts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2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20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: Shape 22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2948A-AD31-C3DC-268B-C299774C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854529"/>
            <a:ext cx="579966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Level 1 - Reverse Level 0</a:t>
            </a:r>
          </a:p>
        </p:txBody>
      </p:sp>
    </p:spTree>
    <p:extLst>
      <p:ext uri="{BB962C8B-B14F-4D97-AF65-F5344CB8AC3E}">
        <p14:creationId xmlns:p14="http://schemas.microsoft.com/office/powerpoint/2010/main" val="326322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Isosceles Triangle 31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Isosceles Triangle 35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Isosceles Triangle 39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Isosceles Triangle 41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F98D4EC-91E7-B778-315E-70AD1964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397000"/>
            <a:ext cx="7766936" cy="2653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Level 2 - Daily Stranded Parts</a:t>
            </a: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7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D6135-F1FA-262A-E861-BC68703E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854529"/>
            <a:ext cx="579966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Level 3 - Reverse Level 2</a:t>
            </a:r>
          </a:p>
        </p:txBody>
      </p:sp>
    </p:spTree>
    <p:extLst>
      <p:ext uri="{BB962C8B-B14F-4D97-AF65-F5344CB8AC3E}">
        <p14:creationId xmlns:p14="http://schemas.microsoft.com/office/powerpoint/2010/main" val="275987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F853C61-F551-54A0-0D6D-7CA1830B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397000"/>
            <a:ext cx="7766936" cy="2653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Level 4 - Capacity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8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B8A5A16-7BE9-4AA1-9B5E-00FAFA5C8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3528F3-EFCB-4F9C-AC6F-A130BC6FA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3639C4-7BA8-46BF-B77F-C44F350F8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B4FA542-2523-4BD8-BCF7-09F23BB6A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DC937BF-4C1E-4507-B43D-0C7644CAE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47E376DE-2C96-4763-AD42-01D60C2B0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B158AF34-A9BC-4D79-9525-2D355954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9C7FAAF9-2552-422D-846A-3ADC4AD46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AE9C7168-E636-4C02-96D2-6D5824035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EFA004EC-0377-4ED7-AA13-B901F5D0BE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7874CAB0-23F6-4DCB-B2FB-6ABE95AA5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8024AF93-149D-4CDC-9A3F-5B87F347D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17871A-619C-3DC6-2CD9-F2C3FD973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2404534"/>
            <a:ext cx="7766936" cy="1646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>
                <a:solidFill>
                  <a:srgbClr val="FFFFFF"/>
                </a:solidFill>
              </a:rPr>
              <a:t>Power BI Dashboards</a:t>
            </a:r>
          </a:p>
        </p:txBody>
      </p:sp>
    </p:spTree>
    <p:extLst>
      <p:ext uri="{BB962C8B-B14F-4D97-AF65-F5344CB8AC3E}">
        <p14:creationId xmlns:p14="http://schemas.microsoft.com/office/powerpoint/2010/main" val="369957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4C7C58-C80C-5DFC-768F-3BBE3A0B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Level 0: Weekly Profit Loss – Shift View</a:t>
            </a:r>
          </a:p>
        </p:txBody>
      </p:sp>
      <p:sp>
        <p:nvSpPr>
          <p:cNvPr id="35" name="Isosceles Triangle 20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 descr="News">
            <a:extLst>
              <a:ext uri="{FF2B5EF4-FFF2-40B4-BE49-F238E27FC236}">
                <a16:creationId xmlns:a16="http://schemas.microsoft.com/office/drawing/2014/main" id="{483806B5-0266-06B9-93FD-03A2A0E02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79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749939-F703-D7B1-A2DA-A5FF4545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Level 1: Weekly Count of Uninspected Parts</a:t>
            </a:r>
          </a:p>
        </p:txBody>
      </p:sp>
      <p:sp>
        <p:nvSpPr>
          <p:cNvPr id="32" name="Isosceles Triangle 20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3" name="Graphic 32" descr="Single gear">
            <a:extLst>
              <a:ext uri="{FF2B5EF4-FFF2-40B4-BE49-F238E27FC236}">
                <a16:creationId xmlns:a16="http://schemas.microsoft.com/office/drawing/2014/main" id="{0105E588-C052-81E2-F4D9-596D8277C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2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C18697-E378-2AE1-D92C-E1A44472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Level 2: Daily Profit Loss by Shift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 descr="Read">
            <a:extLst>
              <a:ext uri="{FF2B5EF4-FFF2-40B4-BE49-F238E27FC236}">
                <a16:creationId xmlns:a16="http://schemas.microsoft.com/office/drawing/2014/main" id="{C2A2FA7C-CEA0-2DA1-6A4C-34F5E9CD3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55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6904F6-CCC4-A604-CDF8-42FA4B26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Level 3: Daily Count of Uninspected Parts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 descr="File HTML">
            <a:extLst>
              <a:ext uri="{FF2B5EF4-FFF2-40B4-BE49-F238E27FC236}">
                <a16:creationId xmlns:a16="http://schemas.microsoft.com/office/drawing/2014/main" id="{5AF728EC-5F68-8F12-C19D-461E575FB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81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14A0B5-723C-6B2B-9A8C-CA82172F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Level 4: Capacity Utilization vs. Received vs. Backlog</a:t>
            </a:r>
            <a:endParaRPr lang="en-US" sz="4600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 descr="Onboarding">
            <a:extLst>
              <a:ext uri="{FF2B5EF4-FFF2-40B4-BE49-F238E27FC236}">
                <a16:creationId xmlns:a16="http://schemas.microsoft.com/office/drawing/2014/main" id="{F90632DD-54CE-E178-763B-3085DB63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4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1A78-E489-CF5D-0A5F-AE6C0CB0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Key Insights &amp;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A7AB-50EA-42E5-3266-53BDDAC8B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Insights</a:t>
            </a:r>
          </a:p>
          <a:p>
            <a:pPr lvl="1"/>
            <a:r>
              <a:rPr lang="en-CA" dirty="0"/>
              <a:t>Shift 3 is a critical bottleneck for stranded profits.</a:t>
            </a:r>
          </a:p>
          <a:p>
            <a:pPr lvl="1"/>
            <a:r>
              <a:rPr lang="en-CA" dirty="0"/>
              <a:t>Capacity does not scale with received volume.</a:t>
            </a:r>
          </a:p>
          <a:p>
            <a:r>
              <a:rPr lang="en-CA" b="1" dirty="0"/>
              <a:t>Recommendations</a:t>
            </a:r>
          </a:p>
          <a:p>
            <a:pPr lvl="1"/>
            <a:r>
              <a:rPr lang="en-CA" dirty="0"/>
              <a:t>Introduce a profit-based inspection priority queue.</a:t>
            </a:r>
          </a:p>
          <a:p>
            <a:pPr lvl="1"/>
            <a:r>
              <a:rPr lang="en-CA" dirty="0"/>
              <a:t>Adapt capacity planning to account for part inflow and delivery irregularity.</a:t>
            </a:r>
          </a:p>
        </p:txBody>
      </p:sp>
    </p:spTree>
    <p:extLst>
      <p:ext uri="{BB962C8B-B14F-4D97-AF65-F5344CB8AC3E}">
        <p14:creationId xmlns:p14="http://schemas.microsoft.com/office/powerpoint/2010/main" val="2940804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2FDA-5E38-DEAB-1D0A-E24CA320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2677"/>
          </a:xfrm>
        </p:spPr>
        <p:txBody>
          <a:bodyPr/>
          <a:lstStyle/>
          <a:p>
            <a:r>
              <a:rPr lang="en-US" dirty="0"/>
              <a:t>References and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BBD9-028A-C86C-F240-76E664FBB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9331"/>
            <a:ext cx="8596668" cy="4362031"/>
          </a:xfrm>
        </p:spPr>
        <p:txBody>
          <a:bodyPr/>
          <a:lstStyle/>
          <a:p>
            <a:r>
              <a:rPr lang="en-US" dirty="0"/>
              <a:t>Various earlier versions of this were produced by Bill Nixon in March 2024 for Sections 1 and 5.</a:t>
            </a:r>
          </a:p>
          <a:p>
            <a:r>
              <a:rPr lang="en-US" dirty="0"/>
              <a:t>Various movies were recorded and published by Bill Nixon through the Case Study 2 Home Page.</a:t>
            </a:r>
          </a:p>
          <a:p>
            <a:r>
              <a:rPr lang="en-US" dirty="0"/>
              <a:t>Various Course Materials about LPQI have already been provided.</a:t>
            </a:r>
          </a:p>
          <a:p>
            <a:r>
              <a:rPr lang="en-US" dirty="0"/>
              <a:t>The Reference Workbook was demonstrated in the class.</a:t>
            </a:r>
          </a:p>
          <a:p>
            <a:r>
              <a:rPr lang="en-US" dirty="0"/>
              <a:t>Guidance came from the 5 Whys Issue 4 PDF.</a:t>
            </a:r>
          </a:p>
          <a:p>
            <a:r>
              <a:rPr lang="en-US" dirty="0"/>
              <a:t>Various Excel formulas for calculations.</a:t>
            </a:r>
          </a:p>
          <a:p>
            <a:r>
              <a:rPr lang="en-US" dirty="0"/>
              <a:t>File provided in the feedback sections of assignments to identify the assigned inspection line, shifts, days and issue.</a:t>
            </a:r>
          </a:p>
          <a:p>
            <a:r>
              <a:rPr lang="en-US" dirty="0"/>
              <a:t>The Met Expectations document is used to understand the expected content.</a:t>
            </a:r>
          </a:p>
        </p:txBody>
      </p:sp>
    </p:spTree>
    <p:extLst>
      <p:ext uri="{BB962C8B-B14F-4D97-AF65-F5344CB8AC3E}">
        <p14:creationId xmlns:p14="http://schemas.microsoft.com/office/powerpoint/2010/main" val="36237517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182</TotalTime>
  <Words>575</Words>
  <Application>Microsoft Macintosh PowerPoint</Application>
  <PresentationFormat>Widescreen</PresentationFormat>
  <Paragraphs>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Trebuchet MS</vt:lpstr>
      <vt:lpstr>Wingdings 3</vt:lpstr>
      <vt:lpstr>Facet</vt:lpstr>
      <vt:lpstr>Root Cause Analysis of Stranded TBI Parts in Shift 3</vt:lpstr>
      <vt:lpstr>Client Need and Insights</vt:lpstr>
      <vt:lpstr>5 Why’s and Critical Insights via Visualization</vt:lpstr>
      <vt:lpstr>Line B Dataset</vt:lpstr>
      <vt:lpstr>Line B – Shift 3 Dataset</vt:lpstr>
      <vt:lpstr>5 Why’s Visualizations</vt:lpstr>
      <vt:lpstr>Level 0 - Weekly Stranded Parts</vt:lpstr>
      <vt:lpstr>Level 1 - Reverse Level 0</vt:lpstr>
      <vt:lpstr>Level 2 - Daily Stranded Parts</vt:lpstr>
      <vt:lpstr>Level 3 - Reverse Level 2</vt:lpstr>
      <vt:lpstr>Level 4 - Capacity</vt:lpstr>
      <vt:lpstr>Power BI Dashboards</vt:lpstr>
      <vt:lpstr>Level 0: Weekly Profit Loss – Shift View</vt:lpstr>
      <vt:lpstr>Level 1: Weekly Count of Uninspected Parts</vt:lpstr>
      <vt:lpstr>Level 2: Daily Profit Loss by Shift</vt:lpstr>
      <vt:lpstr>Level 3: Daily Count of Uninspected Parts</vt:lpstr>
      <vt:lpstr>Level 4: Capacity Utilization vs. Received vs. Backlog</vt:lpstr>
      <vt:lpstr>Key Insights &amp; Recommendations</vt:lpstr>
      <vt:lpstr>References and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 Cause Analysis of Stranded TBI Parts in Shift 3</dc:title>
  <dc:creator>Sakshi Sandeep Salvi</dc:creator>
  <cp:lastModifiedBy>Sakshi Sandeep Salvi</cp:lastModifiedBy>
  <cp:revision>8</cp:revision>
  <dcterms:created xsi:type="dcterms:W3CDTF">2025-08-04T18:37:29Z</dcterms:created>
  <dcterms:modified xsi:type="dcterms:W3CDTF">2025-08-04T22:32:43Z</dcterms:modified>
</cp:coreProperties>
</file>